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D50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1097280"/>
            <a:ext cx="3200400" cy="3200400"/>
          </a:xfrm>
          <a:prstGeom prst="ellipse">
            <a:avLst/>
          </a:prstGeom>
          <a:solidFill>
            <a:srgbClr val="4A7C2F">
              <a:alpha val="40000"/>
            </a:srgbClr>
          </a:solidFill>
          <a:ln w="12700">
            <a:solidFill>
              <a:srgbClr val="4A7C2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731520" y="3474720"/>
            <a:ext cx="2560320" cy="2560320"/>
          </a:xfrm>
          <a:prstGeom prst="ellipse">
            <a:avLst/>
          </a:prstGeom>
          <a:solidFill>
            <a:srgbClr val="7AB648">
              <a:alpha val="30000"/>
            </a:srgbClr>
          </a:solidFill>
          <a:ln w="12700">
            <a:solidFill>
              <a:srgbClr val="7AB64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82296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C8A2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Hierbas del Oasis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1371600" cy="201168"/>
          </a:xfrm>
          <a:prstGeom prst="roundRect">
            <a:avLst>
              <a:gd name="adj" fmla="val 22727"/>
            </a:avLst>
          </a:prstGeom>
          <a:solidFill>
            <a:srgbClr val="C8A200"/>
          </a:solidFill>
          <a:ln w="12700">
            <a:solidFill>
              <a:srgbClr val="C8A2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737360"/>
            <a:ext cx="6858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Vendedor Digital</a:t>
            </a:r>
            <a:endParaRPr lang="en-US" sz="4600" dirty="0"/>
          </a:p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WhatsApp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548640" y="3657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9AB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 ·  Decisiones de diseño  ·  Ventajas del modelo</a:t>
            </a:r>
            <a:endParaRPr lang="en-US" sz="14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4297680"/>
            <a:ext cx="548640" cy="5486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8640" y="438912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hierbasdeloasis.com.ar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D50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problema que resolvemos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Atender clientes por WhatsApp a escala, sin perder calidad ni centralización.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11480" y="1417320"/>
            <a:ext cx="3931920" cy="1417320"/>
          </a:xfrm>
          <a:prstGeom prst="roundRect">
            <a:avLst>
              <a:gd name="adj" fmla="val 7742"/>
            </a:avLst>
          </a:prstGeom>
          <a:solidFill>
            <a:srgbClr val="F0EDE8"/>
          </a:solidFill>
          <a:ln w="12700">
            <a:solidFill>
              <a:srgbClr val="F0ED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764792"/>
            <a:ext cx="548640" cy="548640"/>
          </a:xfrm>
          <a:prstGeom prst="ellipse">
            <a:avLst/>
          </a:prstGeom>
          <a:solidFill>
            <a:srgbClr val="2D5016"/>
          </a:solidFill>
          <a:ln w="12700">
            <a:solidFill>
              <a:srgbClr val="2D5016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1819656"/>
            <a:ext cx="438912" cy="4389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1709928"/>
            <a:ext cx="2880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D50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Volumen creciente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280160" y="2075688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Consultas por WhatsApp que ningún vendedor puede responder a tiempo en picos de demanda.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663440" y="1417320"/>
            <a:ext cx="3931920" cy="1417320"/>
          </a:xfrm>
          <a:prstGeom prst="roundRect">
            <a:avLst>
              <a:gd name="adj" fmla="val 7742"/>
            </a:avLst>
          </a:prstGeom>
          <a:solidFill>
            <a:srgbClr val="F0EDE8"/>
          </a:solidFill>
          <a:ln w="12700">
            <a:solidFill>
              <a:srgbClr val="F0ED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846320" y="1764792"/>
            <a:ext cx="548640" cy="548640"/>
          </a:xfrm>
          <a:prstGeom prst="ellipse">
            <a:avLst/>
          </a:prstGeom>
          <a:solidFill>
            <a:srgbClr val="2D5016"/>
          </a:solidFill>
          <a:ln w="12700">
            <a:solidFill>
              <a:srgbClr val="2D5016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1184" y="1819656"/>
            <a:ext cx="438912" cy="43891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32120" y="1709928"/>
            <a:ext cx="2880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D50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Ventas perdidas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5532120" y="2075688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respuesta lenta es un cliente que se va a la competencia. La velocidad importa.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411480" y="3017520"/>
            <a:ext cx="3931920" cy="1417320"/>
          </a:xfrm>
          <a:prstGeom prst="roundRect">
            <a:avLst>
              <a:gd name="adj" fmla="val 7742"/>
            </a:avLst>
          </a:prstGeom>
          <a:solidFill>
            <a:srgbClr val="F0EDE8"/>
          </a:solidFill>
          <a:ln w="12700">
            <a:solidFill>
              <a:srgbClr val="F0ED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594360" y="3364992"/>
            <a:ext cx="548640" cy="548640"/>
          </a:xfrm>
          <a:prstGeom prst="ellipse">
            <a:avLst/>
          </a:prstGeom>
          <a:solidFill>
            <a:srgbClr val="2D5016"/>
          </a:solidFill>
          <a:ln w="12700">
            <a:solidFill>
              <a:srgbClr val="2D5016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" y="3419856"/>
            <a:ext cx="438912" cy="43891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280160" y="3310128"/>
            <a:ext cx="2880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D50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Historial disperso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1280160" y="3675888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vendedor tiene chats en su propio celular. Si se va, se pierde el historial del cliente.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4663440" y="3017520"/>
            <a:ext cx="3931920" cy="1417320"/>
          </a:xfrm>
          <a:prstGeom prst="roundRect">
            <a:avLst>
              <a:gd name="adj" fmla="val 7742"/>
            </a:avLst>
          </a:prstGeom>
          <a:solidFill>
            <a:srgbClr val="F0EDE8"/>
          </a:solidFill>
          <a:ln w="12700">
            <a:solidFill>
              <a:srgbClr val="F0ED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846320" y="3364992"/>
            <a:ext cx="548640" cy="548640"/>
          </a:xfrm>
          <a:prstGeom prst="ellipse">
            <a:avLst/>
          </a:prstGeom>
          <a:solidFill>
            <a:srgbClr val="2D5016"/>
          </a:solidFill>
          <a:ln w="12700">
            <a:solidFill>
              <a:srgbClr val="2D5016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1184" y="3419856"/>
            <a:ext cx="438912" cy="43891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532120" y="3310128"/>
            <a:ext cx="2880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D50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 visibilidad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5532120" y="3675888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equipo comercial no sabe qué se habló, qué se prometió ni qué conversación falta cerrar.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D50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funciona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274320" y="1371600"/>
            <a:ext cx="1481328" cy="914400"/>
          </a:xfrm>
          <a:prstGeom prst="roundRect">
            <a:avLst>
              <a:gd name="adj" fmla="val 12000"/>
            </a:avLst>
          </a:prstGeom>
          <a:solidFill>
            <a:srgbClr val="C8A200"/>
          </a:solidFill>
          <a:ln w="12700">
            <a:solidFill>
              <a:srgbClr val="C8A20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274320" y="1481328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4320" y="1865376"/>
            <a:ext cx="1481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4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Escribe por WhatsApp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810512" y="1828800"/>
            <a:ext cx="228600" cy="0"/>
          </a:xfrm>
          <a:prstGeom prst="line">
            <a:avLst/>
          </a:prstGeom>
          <a:noFill/>
          <a:ln w="25400">
            <a:solidFill>
              <a:srgbClr val="4A7C2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93976" y="1371600"/>
            <a:ext cx="1481328" cy="914400"/>
          </a:xfrm>
          <a:prstGeom prst="roundRect">
            <a:avLst>
              <a:gd name="adj" fmla="val 12000"/>
            </a:avLst>
          </a:prstGeom>
          <a:solidFill>
            <a:srgbClr val="4A7C2F"/>
          </a:solidFill>
          <a:ln w="12700">
            <a:solidFill>
              <a:srgbClr val="4A7C2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093976" y="1481328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Meta Cloud API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093976" y="1865376"/>
            <a:ext cx="1481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E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 el mensaje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30168" y="1828800"/>
            <a:ext cx="228600" cy="0"/>
          </a:xfrm>
          <a:prstGeom prst="line">
            <a:avLst/>
          </a:prstGeom>
          <a:noFill/>
          <a:ln w="25400">
            <a:solidFill>
              <a:srgbClr val="4A7C2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913632" y="1371600"/>
            <a:ext cx="1481328" cy="914400"/>
          </a:xfrm>
          <a:prstGeom prst="roundRect">
            <a:avLst>
              <a:gd name="adj" fmla="val 12000"/>
            </a:avLst>
          </a:prstGeom>
          <a:solidFill>
            <a:srgbClr val="2D5016"/>
          </a:solidFill>
          <a:ln w="12700">
            <a:solidFill>
              <a:srgbClr val="2D501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913632" y="1481328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Chatwoot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913632" y="1865376"/>
            <a:ext cx="1481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B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Bandeja centralizada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49824" y="1828800"/>
            <a:ext cx="228600" cy="0"/>
          </a:xfrm>
          <a:prstGeom prst="line">
            <a:avLst/>
          </a:prstGeom>
          <a:noFill/>
          <a:ln w="25400">
            <a:solidFill>
              <a:srgbClr val="4A7C2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733288" y="1371600"/>
            <a:ext cx="1481328" cy="914400"/>
          </a:xfrm>
          <a:prstGeom prst="roundRect">
            <a:avLst>
              <a:gd name="adj" fmla="val 12000"/>
            </a:avLst>
          </a:prstGeom>
          <a:solidFill>
            <a:srgbClr val="4A7C2F"/>
          </a:solidFill>
          <a:ln w="12700">
            <a:solidFill>
              <a:srgbClr val="4A7C2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733288" y="1481328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Bot IA (Haiku)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733288" y="1865376"/>
            <a:ext cx="1481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E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responde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269480" y="1828800"/>
            <a:ext cx="228600" cy="0"/>
          </a:xfrm>
          <a:prstGeom prst="line">
            <a:avLst/>
          </a:prstGeom>
          <a:noFill/>
          <a:ln w="25400">
            <a:solidFill>
              <a:srgbClr val="4A7C2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52944" y="1371600"/>
            <a:ext cx="1481328" cy="914400"/>
          </a:xfrm>
          <a:prstGeom prst="roundRect">
            <a:avLst>
              <a:gd name="adj" fmla="val 12000"/>
            </a:avLst>
          </a:prstGeom>
          <a:solidFill>
            <a:srgbClr val="7AB648"/>
          </a:solidFill>
          <a:ln w="12700">
            <a:solidFill>
              <a:srgbClr val="7AB64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552944" y="1481328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Vendedor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552944" y="1865376"/>
            <a:ext cx="1481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F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 el caso si escala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473952" y="2423160"/>
            <a:ext cx="0" cy="365760"/>
          </a:xfrm>
          <a:prstGeom prst="line">
            <a:avLst/>
          </a:prstGeom>
          <a:noFill/>
          <a:ln w="25400">
            <a:solidFill>
              <a:srgbClr val="4A7C2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093208" y="2788920"/>
            <a:ext cx="2761488" cy="0"/>
          </a:xfrm>
          <a:prstGeom prst="line">
            <a:avLst/>
          </a:prstGeom>
          <a:noFill/>
          <a:ln w="25400">
            <a:solidFill>
              <a:srgbClr val="4A7C2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13248" y="2788920"/>
            <a:ext cx="0" cy="228600"/>
          </a:xfrm>
          <a:prstGeom prst="line">
            <a:avLst/>
          </a:prstGeom>
          <a:noFill/>
          <a:ln w="25400">
            <a:solidFill>
              <a:srgbClr val="4A7C2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407408" y="3017520"/>
            <a:ext cx="2011680" cy="868680"/>
          </a:xfrm>
          <a:prstGeom prst="roundRect">
            <a:avLst>
              <a:gd name="adj" fmla="val 10526"/>
            </a:avLst>
          </a:prstGeom>
          <a:solidFill>
            <a:srgbClr val="2D5016"/>
          </a:solidFill>
          <a:ln w="12700">
            <a:solidFill>
              <a:srgbClr val="2D501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407408" y="31089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Resuelve solo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407408" y="340156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E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bot responde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8E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automáticamente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242048" y="2788920"/>
            <a:ext cx="0" cy="228600"/>
          </a:xfrm>
          <a:prstGeom prst="line">
            <a:avLst/>
          </a:prstGeom>
          <a:noFill/>
          <a:ln w="25400">
            <a:solidFill>
              <a:srgbClr val="4A7C2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236208" y="3017520"/>
            <a:ext cx="2011680" cy="868680"/>
          </a:xfrm>
          <a:prstGeom prst="roundRect">
            <a:avLst>
              <a:gd name="adj" fmla="val 10526"/>
            </a:avLst>
          </a:prstGeom>
          <a:solidFill>
            <a:srgbClr val="F0EDE8"/>
          </a:solidFill>
          <a:ln w="12700">
            <a:solidFill>
              <a:srgbClr val="4A7C2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236208" y="31089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50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Escala a humano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236208" y="340156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Pasa a vendedor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Chatwoot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Vendedores ven y responden desde la app Chatwoot (web o móvil). El cliente siempre escribe al mismo número de Oasis.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D50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Las 3 capas del sistema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20040" y="960120"/>
            <a:ext cx="2697480" cy="3520440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20040" y="960120"/>
            <a:ext cx="2697480" cy="960120"/>
          </a:xfrm>
          <a:prstGeom prst="roundRect">
            <a:avLst>
              <a:gd name="adj" fmla="val 14286"/>
            </a:avLst>
          </a:prstGeom>
          <a:solidFill>
            <a:srgbClr val="C8A200"/>
          </a:solidFill>
          <a:ln w="12700">
            <a:solidFill>
              <a:srgbClr val="C8A2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600200"/>
            <a:ext cx="2697480" cy="320040"/>
          </a:xfrm>
          <a:prstGeom prst="rect">
            <a:avLst/>
          </a:prstGeom>
          <a:solidFill>
            <a:srgbClr val="C8A200"/>
          </a:solidFill>
          <a:ln w="12700">
            <a:solidFill>
              <a:srgbClr val="C8A20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161288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057400" y="1124712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2D5016">
                    <a:alpha val="6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484632" y="1737360"/>
            <a:ext cx="2368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D50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Meta / WhatsApp Cloud API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84632" y="2304288"/>
            <a:ext cx="2368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D50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Conexión oficial y verificada con WhatsApp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84632" y="2816352"/>
            <a:ext cx="2368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D50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Gestiona el número de negocio de Oasis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84632" y="3328416"/>
            <a:ext cx="2368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D50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 mensajes al sistema en tiempo real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84632" y="3840480"/>
            <a:ext cx="2368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D50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Única interfaz aprobada por Meta para uso comercial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200400" y="960120"/>
            <a:ext cx="2697480" cy="3520440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200400" y="960120"/>
            <a:ext cx="2697480" cy="960120"/>
          </a:xfrm>
          <a:prstGeom prst="roundRect">
            <a:avLst>
              <a:gd name="adj" fmla="val 14286"/>
            </a:avLst>
          </a:prstGeom>
          <a:solidFill>
            <a:srgbClr val="4A7C2F"/>
          </a:solidFill>
          <a:ln w="12700">
            <a:solidFill>
              <a:srgbClr val="4A7C2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200400" y="1600200"/>
            <a:ext cx="2697480" cy="320040"/>
          </a:xfrm>
          <a:prstGeom prst="rect">
            <a:avLst/>
          </a:prstGeom>
          <a:solidFill>
            <a:srgbClr val="4A7C2F"/>
          </a:solidFill>
          <a:ln w="12700">
            <a:solidFill>
              <a:srgbClr val="4A7C2F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0" y="1161288"/>
            <a:ext cx="502920" cy="50292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937760" y="1124712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FFFFFF">
                    <a:alpha val="6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400" dirty="0"/>
          </a:p>
        </p:txBody>
      </p:sp>
      <p:sp>
        <p:nvSpPr>
          <p:cNvPr id="18" name="Text 14"/>
          <p:cNvSpPr/>
          <p:nvPr/>
        </p:nvSpPr>
        <p:spPr>
          <a:xfrm>
            <a:off x="3364992" y="1737360"/>
            <a:ext cx="2368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D50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Chatwoot (self-hosted)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3364992" y="2304288"/>
            <a:ext cx="2368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A7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Bandeja de entrada centralizada para el equipo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3364992" y="2816352"/>
            <a:ext cx="2368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A7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Historial completo de cada conversación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3364992" y="3328416"/>
            <a:ext cx="2368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A7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Asignación de chats a vendedores específicos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3364992" y="3840480"/>
            <a:ext cx="2368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A7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web y móvil para los agentes de ventas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6080760" y="960120"/>
            <a:ext cx="2697480" cy="3520440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6080760" y="960120"/>
            <a:ext cx="2697480" cy="960120"/>
          </a:xfrm>
          <a:prstGeom prst="roundRect">
            <a:avLst>
              <a:gd name="adj" fmla="val 14286"/>
            </a:avLst>
          </a:prstGeom>
          <a:solidFill>
            <a:srgbClr val="2D5016"/>
          </a:solidFill>
          <a:ln w="12700">
            <a:solidFill>
              <a:srgbClr val="2D5016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6080760" y="1600200"/>
            <a:ext cx="2697480" cy="320040"/>
          </a:xfrm>
          <a:prstGeom prst="rect">
            <a:avLst/>
          </a:prstGeom>
          <a:solidFill>
            <a:srgbClr val="2D5016"/>
          </a:solidFill>
          <a:ln w="12700">
            <a:solidFill>
              <a:srgbClr val="2D5016"/>
            </a:solidFill>
            <a:prstDash val="solid"/>
          </a:ln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161288"/>
            <a:ext cx="502920" cy="502920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7818120" y="1124712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FFFFFF">
                    <a:alpha val="6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400" dirty="0"/>
          </a:p>
        </p:txBody>
      </p:sp>
      <p:sp>
        <p:nvSpPr>
          <p:cNvPr id="28" name="Text 23"/>
          <p:cNvSpPr/>
          <p:nvPr/>
        </p:nvSpPr>
        <p:spPr>
          <a:xfrm>
            <a:off x="6245352" y="1737360"/>
            <a:ext cx="2368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D50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Bot IA — Claude Haiku</a:t>
            </a:r>
            <a:endParaRPr lang="en-US" sz="1300" dirty="0"/>
          </a:p>
        </p:txBody>
      </p:sp>
      <p:sp>
        <p:nvSpPr>
          <p:cNvPr id="29" name="Text 24"/>
          <p:cNvSpPr/>
          <p:nvPr/>
        </p:nvSpPr>
        <p:spPr>
          <a:xfrm>
            <a:off x="6245352" y="2304288"/>
            <a:ext cx="2368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D50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 consultas frecuentes 24 hs / 7 días</a:t>
            </a:r>
            <a:endParaRPr lang="en-US" sz="1100" dirty="0"/>
          </a:p>
        </p:txBody>
      </p:sp>
      <p:sp>
        <p:nvSpPr>
          <p:cNvPr id="30" name="Text 25"/>
          <p:cNvSpPr/>
          <p:nvPr/>
        </p:nvSpPr>
        <p:spPr>
          <a:xfrm>
            <a:off x="6245352" y="2816352"/>
            <a:ext cx="2368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D50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de marca: productos, precios, pedidos</a:t>
            </a:r>
            <a:endParaRPr lang="en-US" sz="1100" dirty="0"/>
          </a:p>
        </p:txBody>
      </p:sp>
      <p:sp>
        <p:nvSpPr>
          <p:cNvPr id="31" name="Text 26"/>
          <p:cNvSpPr/>
          <p:nvPr/>
        </p:nvSpPr>
        <p:spPr>
          <a:xfrm>
            <a:off x="6245352" y="3328416"/>
            <a:ext cx="2368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D50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 cuando una consulta requiere un humano</a:t>
            </a:r>
            <a:endParaRPr lang="en-US" sz="1100" dirty="0"/>
          </a:p>
        </p:txBody>
      </p:sp>
      <p:sp>
        <p:nvSpPr>
          <p:cNvPr id="32" name="Text 27"/>
          <p:cNvSpPr/>
          <p:nvPr/>
        </p:nvSpPr>
        <p:spPr>
          <a:xfrm>
            <a:off x="6245352" y="3840480"/>
            <a:ext cx="2368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D50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Deriva y asigna automáticamente al vendedor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D50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un solo numero?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77824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número centralizado vs. un número por vendedor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61872"/>
          <a:ext cx="8412480" cy="3611880"/>
        </p:xfrm>
        <a:graphic>
          <a:graphicData uri="http://schemas.openxmlformats.org/drawingml/2006/table">
            <a:tbl>
              <a:tblPr/>
              <a:tblGrid>
                <a:gridCol w="2331720"/>
                <a:gridCol w="3017520"/>
                <a:gridCol w="306324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50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Un numero centralizado  ✓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7C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Un numero por vendedor  ✗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233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D5016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Costo Meta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50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 solo plan mensual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9B23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Multiplicado x vendedor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8E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D5016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Historial cliente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50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Centralizado y visible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9B23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Disperso en celulares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D5016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 el vendedor renuncia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50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Conversaciones no se pierden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9B23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 pierde todo el historial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8E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D5016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Imagen de marca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50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Siempre Hierbas del Oasis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9B23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 cel de Juan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D5016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Supervision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50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Visible para todo el equipo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9B23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Imposible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8E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D5016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Bot IA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50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 bot para todos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9B23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 bot por numero = nx el costo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D50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Ventajas del modelo elegido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47472" y="1005840"/>
            <a:ext cx="265176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30352" y="1207008"/>
            <a:ext cx="502920" cy="502920"/>
          </a:xfrm>
          <a:prstGeom prst="ellipse">
            <a:avLst/>
          </a:prstGeom>
          <a:solidFill>
            <a:srgbClr val="2D5016"/>
          </a:solidFill>
          <a:ln w="12700">
            <a:solidFill>
              <a:srgbClr val="2D5016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16" y="1261872"/>
            <a:ext cx="393192" cy="39319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24712" y="12344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D50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Atencion 24/7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30352" y="1810512"/>
            <a:ext cx="2331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bot responde sin costo adicional de personal en horarios fuera de oficina.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218688" y="1005840"/>
            <a:ext cx="265176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401568" y="1207008"/>
            <a:ext cx="502920" cy="502920"/>
          </a:xfrm>
          <a:prstGeom prst="ellipse">
            <a:avLst/>
          </a:prstGeom>
          <a:solidFill>
            <a:srgbClr val="2D5016"/>
          </a:solidFill>
          <a:ln w="12700">
            <a:solidFill>
              <a:srgbClr val="2D5016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6432" y="1261872"/>
            <a:ext cx="393192" cy="39319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995928" y="12344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D50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Escala sin friccion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3401568" y="1810512"/>
            <a:ext cx="2331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 vendedores = solo crear un usuario en Chatwoot. Sin configurar un numero nuevo.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108192" y="1005840"/>
            <a:ext cx="265176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291072" y="1207008"/>
            <a:ext cx="502920" cy="502920"/>
          </a:xfrm>
          <a:prstGeom prst="ellipse">
            <a:avLst/>
          </a:prstGeom>
          <a:solidFill>
            <a:srgbClr val="2D5016"/>
          </a:solidFill>
          <a:ln w="12700">
            <a:solidFill>
              <a:srgbClr val="2D5016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5936" y="1261872"/>
            <a:ext cx="393192" cy="39319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885432" y="12344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D50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Historial centralizado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6291072" y="1810512"/>
            <a:ext cx="2331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cliente tiene toda su historia en un lugar, visible para todo el equipo.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347472" y="2834640"/>
            <a:ext cx="265176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530352" y="3035808"/>
            <a:ext cx="502920" cy="502920"/>
          </a:xfrm>
          <a:prstGeom prst="ellipse">
            <a:avLst/>
          </a:prstGeom>
          <a:solidFill>
            <a:srgbClr val="2D5016"/>
          </a:solidFill>
          <a:ln w="12700">
            <a:solidFill>
              <a:srgbClr val="2D5016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216" y="3090672"/>
            <a:ext cx="393192" cy="39319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124712" y="30632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D50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Marca consistente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530352" y="3639312"/>
            <a:ext cx="2331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cliente siempre habla con Hierbas del Oasis, no con el celular de un empleado.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3218688" y="2834640"/>
            <a:ext cx="265176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3401568" y="3035808"/>
            <a:ext cx="502920" cy="502920"/>
          </a:xfrm>
          <a:prstGeom prst="ellipse">
            <a:avLst/>
          </a:prstGeom>
          <a:solidFill>
            <a:srgbClr val="2D5016"/>
          </a:solidFill>
          <a:ln w="12700">
            <a:solidFill>
              <a:srgbClr val="2D5016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56432" y="3090672"/>
            <a:ext cx="393192" cy="393192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3995928" y="30632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D50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Continuidad asegurada</a:t>
            </a:r>
            <a:endParaRPr lang="en-US" sz="1200" dirty="0"/>
          </a:p>
        </p:txBody>
      </p:sp>
      <p:sp>
        <p:nvSpPr>
          <p:cNvPr id="27" name="Text 20"/>
          <p:cNvSpPr/>
          <p:nvPr/>
        </p:nvSpPr>
        <p:spPr>
          <a:xfrm>
            <a:off x="3401568" y="3639312"/>
            <a:ext cx="2331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un vendedor no esta disponible, otro toma la conversacion con todo el contexto.</a:t>
            </a:r>
            <a:endParaRPr lang="en-US" sz="1100" dirty="0"/>
          </a:p>
        </p:txBody>
      </p:sp>
      <p:sp>
        <p:nvSpPr>
          <p:cNvPr id="28" name="Shape 21"/>
          <p:cNvSpPr/>
          <p:nvPr/>
        </p:nvSpPr>
        <p:spPr>
          <a:xfrm>
            <a:off x="6108192" y="2834640"/>
            <a:ext cx="265176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6291072" y="3035808"/>
            <a:ext cx="502920" cy="502920"/>
          </a:xfrm>
          <a:prstGeom prst="ellipse">
            <a:avLst/>
          </a:prstGeom>
          <a:solidFill>
            <a:srgbClr val="2D5016"/>
          </a:solidFill>
          <a:ln w="12700">
            <a:solidFill>
              <a:srgbClr val="2D5016"/>
            </a:solidFill>
            <a:prstDash val="solid"/>
          </a:ln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45936" y="3090672"/>
            <a:ext cx="393192" cy="393192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6885432" y="30632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D50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Costo fijo predecible</a:t>
            </a:r>
            <a:endParaRPr lang="en-US" sz="1200" dirty="0"/>
          </a:p>
        </p:txBody>
      </p:sp>
      <p:sp>
        <p:nvSpPr>
          <p:cNvPr id="32" name="Text 24"/>
          <p:cNvSpPr/>
          <p:nvPr/>
        </p:nvSpPr>
        <p:spPr>
          <a:xfrm>
            <a:off x="6291072" y="3639312"/>
            <a:ext cx="2331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VPS propio: sin costo por agente. Chatwoot open source. El costo no escala con el equipo.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D50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Infraestructura y hosting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20040" y="960120"/>
            <a:ext cx="3840480" cy="3840480"/>
          </a:xfrm>
          <a:prstGeom prst="roundRect">
            <a:avLst>
              <a:gd name="adj" fmla="val 3571"/>
            </a:avLst>
          </a:prstGeom>
          <a:solidFill>
            <a:srgbClr val="2D5016"/>
          </a:solidFill>
          <a:ln w="12700">
            <a:solidFill>
              <a:srgbClr val="2D5016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9728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34440" y="1170432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Servidor VPS – DonWeb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48640" y="162763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8A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chat.hierbasdeloasis.com.ar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48640" y="201168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8A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algn="l" indent="0" marL="0">
              <a:buNone/>
            </a:pPr>
            <a:r>
              <a:rPr lang="en-US" sz="1200" dirty="0">
                <a:solidFill>
                  <a:srgbClr val="B8D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Ubuntu 22.04 LTS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48640" y="2395728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8A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algn="l" indent="0" marL="0">
              <a:buNone/>
            </a:pPr>
            <a:r>
              <a:rPr lang="en-US" sz="1200" dirty="0">
                <a:solidFill>
                  <a:srgbClr val="B8D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vCPU / 8 GB RAM / 30 GB SSD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48640" y="2779776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8A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algn="l" indent="0" marL="0">
              <a:buNone/>
            </a:pPr>
            <a:r>
              <a:rPr lang="en-US" sz="1200" dirty="0">
                <a:solidFill>
                  <a:srgbClr val="B8D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automatico (Caddy + Let's Encrypt)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48640" y="3163824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8A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algn="l" indent="0" marL="0">
              <a:buNone/>
            </a:pPr>
            <a:r>
              <a:rPr lang="en-US" sz="1200" dirty="0">
                <a:solidFill>
                  <a:srgbClr val="B8D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fija: 66.97.38.18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48640" y="354787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8A2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Stack de servicios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48640" y="3858768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AB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  ·  redis  ·  rails (Chatwoot)  ·  sidekiq  ·  bot  ·  caddy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389120" y="960120"/>
            <a:ext cx="4389120" cy="841248"/>
          </a:xfrm>
          <a:prstGeom prst="roundRect">
            <a:avLst>
              <a:gd name="adj" fmla="val 10870"/>
            </a:avLst>
          </a:prstGeom>
          <a:solidFill>
            <a:srgbClr val="F0EDE8"/>
          </a:solidFill>
          <a:ln w="12700">
            <a:solidFill>
              <a:srgbClr val="E0DAD4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3712" y="1152144"/>
            <a:ext cx="411480" cy="4114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074920" y="1051560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D50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Bot en Node.js / TypeScript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5074920" y="139903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Tipado fuerte, rendimiento, mantenimiento sencillo.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4389120" y="1938528"/>
            <a:ext cx="438912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E0DAD4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3712" y="2130552"/>
            <a:ext cx="411480" cy="41148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074920" y="2029968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D50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Chatwoot v4.14.2 (fija)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5074920" y="23774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pineada: actualizaciones controladas, sin sorpresas.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4389120" y="2916936"/>
            <a:ext cx="4389120" cy="841248"/>
          </a:xfrm>
          <a:prstGeom prst="roundRect">
            <a:avLst>
              <a:gd name="adj" fmla="val 10870"/>
            </a:avLst>
          </a:prstGeom>
          <a:solidFill>
            <a:srgbClr val="F0EDE8"/>
          </a:solidFill>
          <a:ln w="12700">
            <a:solidFill>
              <a:srgbClr val="E0DAD4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53712" y="3108960"/>
            <a:ext cx="411480" cy="41148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074920" y="3008376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D50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Docker Compose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5074920" y="335584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servidor, un comando. Reproducible en cualquier VPS.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4389120" y="3895344"/>
            <a:ext cx="438912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E0DAD4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53712" y="4087368"/>
            <a:ext cx="411480" cy="41148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074920" y="3986784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D50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 Haiku (Anthropic)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5074920" y="4334256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rapido y economico, ideal para chats conversacionales.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D50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Proximos pasos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41248" y="1234440"/>
            <a:ext cx="0" cy="3520440"/>
          </a:xfrm>
          <a:prstGeom prst="line">
            <a:avLst/>
          </a:prstGeom>
          <a:noFill/>
          <a:ln w="25400">
            <a:solidFill>
              <a:srgbClr val="D0D0D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088136"/>
            <a:ext cx="594360" cy="594360"/>
          </a:xfrm>
          <a:prstGeom prst="ellipse">
            <a:avLst/>
          </a:prstGeom>
          <a:solidFill>
            <a:srgbClr val="4A7C2F"/>
          </a:solidFill>
          <a:ln w="12700">
            <a:solidFill>
              <a:srgbClr val="4A7C2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" y="1170432"/>
            <a:ext cx="429768" cy="42976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298448" y="1161288"/>
            <a:ext cx="914400" cy="274320"/>
          </a:xfrm>
          <a:prstGeom prst="roundRect">
            <a:avLst>
              <a:gd name="adj" fmla="val 26667"/>
            </a:avLst>
          </a:prstGeom>
          <a:solidFill>
            <a:srgbClr val="4A7C2F"/>
          </a:solidFill>
          <a:ln w="12700">
            <a:solidFill>
              <a:srgbClr val="4A7C2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298448" y="11612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ACTIVO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2350008" y="1097280"/>
            <a:ext cx="6492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D50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Bot responde consultas simples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2350008" y="1435608"/>
            <a:ext cx="6492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 frecuentes sobre productos, precios y pedidos. En produccion ahora mismo.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48640" y="1892808"/>
            <a:ext cx="594360" cy="594360"/>
          </a:xfrm>
          <a:prstGeom prst="ellipse">
            <a:avLst/>
          </a:prstGeom>
          <a:solidFill>
            <a:srgbClr val="C8A200"/>
          </a:solidFill>
          <a:ln w="12700">
            <a:solidFill>
              <a:srgbClr val="C8A20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" y="1975104"/>
            <a:ext cx="429768" cy="429768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1298448" y="1965960"/>
            <a:ext cx="914400" cy="274320"/>
          </a:xfrm>
          <a:prstGeom prst="roundRect">
            <a:avLst>
              <a:gd name="adj" fmla="val 26667"/>
            </a:avLst>
          </a:prstGeom>
          <a:solidFill>
            <a:srgbClr val="C8A200"/>
          </a:solidFill>
          <a:ln w="12700">
            <a:solidFill>
              <a:srgbClr val="C8A200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1298448" y="1965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2.7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2350008" y="1901952"/>
            <a:ext cx="6492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D50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Escalado a humano automatico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2350008" y="2240280"/>
            <a:ext cx="6492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Deteccion de intencion: el bot asigna la conv. al vendedor disponible sin intervencion.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548640" y="2697480"/>
            <a:ext cx="594360" cy="594360"/>
          </a:xfrm>
          <a:prstGeom prst="ellipse">
            <a:avLst/>
          </a:prstGeom>
          <a:solidFill>
            <a:srgbClr val="7AB648"/>
          </a:solidFill>
          <a:ln w="12700">
            <a:solidFill>
              <a:srgbClr val="7AB64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" y="2779776"/>
            <a:ext cx="429768" cy="429768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1298448" y="2770632"/>
            <a:ext cx="914400" cy="274320"/>
          </a:xfrm>
          <a:prstGeom prst="roundRect">
            <a:avLst>
              <a:gd name="adj" fmla="val 26667"/>
            </a:avLst>
          </a:prstGeom>
          <a:solidFill>
            <a:srgbClr val="7AB648"/>
          </a:solidFill>
          <a:ln w="12700">
            <a:solidFill>
              <a:srgbClr val="7AB648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1298448" y="277063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2.8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2350008" y="2706624"/>
            <a:ext cx="6492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D50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Memoria por cliente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2350008" y="3044952"/>
            <a:ext cx="6492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Historial multi-turno: el bot recuerda lo hablado en conversaciones anteriores.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548640" y="3502152"/>
            <a:ext cx="594360" cy="594360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" y="3584448"/>
            <a:ext cx="429768" cy="429768"/>
          </a:xfrm>
          <a:prstGeom prst="rect">
            <a:avLst/>
          </a:prstGeom>
        </p:spPr>
      </p:pic>
      <p:sp>
        <p:nvSpPr>
          <p:cNvPr id="24" name="Shape 18"/>
          <p:cNvSpPr/>
          <p:nvPr/>
        </p:nvSpPr>
        <p:spPr>
          <a:xfrm>
            <a:off x="1298448" y="3575304"/>
            <a:ext cx="914400" cy="274320"/>
          </a:xfrm>
          <a:prstGeom prst="roundRect">
            <a:avLst>
              <a:gd name="adj" fmla="val 26667"/>
            </a:avLst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1298448" y="357530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2350008" y="3511296"/>
            <a:ext cx="6492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D50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Campanas de difusion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2350008" y="3849624"/>
            <a:ext cx="6492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Envios masivos por WhatsApp: novedades, promociones y seguimientos automaticos.</a:t>
            </a:r>
            <a:endParaRPr lang="en-US" sz="1100" dirty="0"/>
          </a:p>
        </p:txBody>
      </p:sp>
      <p:sp>
        <p:nvSpPr>
          <p:cNvPr id="28" name="Shape 22"/>
          <p:cNvSpPr/>
          <p:nvPr/>
        </p:nvSpPr>
        <p:spPr>
          <a:xfrm>
            <a:off x="548640" y="4306824"/>
            <a:ext cx="594360" cy="594360"/>
          </a:xfrm>
          <a:prstGeom prst="ellipse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" y="4389120"/>
            <a:ext cx="429768" cy="429768"/>
          </a:xfrm>
          <a:prstGeom prst="rect">
            <a:avLst/>
          </a:prstGeom>
        </p:spPr>
      </p:pic>
      <p:sp>
        <p:nvSpPr>
          <p:cNvPr id="30" name="Shape 23"/>
          <p:cNvSpPr/>
          <p:nvPr/>
        </p:nvSpPr>
        <p:spPr>
          <a:xfrm>
            <a:off x="1298448" y="4379976"/>
            <a:ext cx="914400" cy="274320"/>
          </a:xfrm>
          <a:prstGeom prst="roundRect">
            <a:avLst>
              <a:gd name="adj" fmla="val 26667"/>
            </a:avLst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1298448" y="43799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4</a:t>
            </a:r>
            <a:endParaRPr lang="en-US" sz="900" dirty="0"/>
          </a:p>
        </p:txBody>
      </p:sp>
      <p:sp>
        <p:nvSpPr>
          <p:cNvPr id="32" name="Text 25"/>
          <p:cNvSpPr/>
          <p:nvPr/>
        </p:nvSpPr>
        <p:spPr>
          <a:xfrm>
            <a:off x="2350008" y="4315968"/>
            <a:ext cx="6492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D50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Reportes y metricas</a:t>
            </a:r>
            <a:endParaRPr lang="en-US" sz="1400" dirty="0"/>
          </a:p>
        </p:txBody>
      </p:sp>
      <p:sp>
        <p:nvSpPr>
          <p:cNvPr id="33" name="Text 26"/>
          <p:cNvSpPr/>
          <p:nvPr/>
        </p:nvSpPr>
        <p:spPr>
          <a:xfrm>
            <a:off x="2350008" y="4654296"/>
            <a:ext cx="6492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de conversiones, tiempo de respuesta y performance del equipo de ventas.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D50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05840" y="-1005840"/>
            <a:ext cx="3657600" cy="3657600"/>
          </a:xfrm>
          <a:prstGeom prst="ellipse">
            <a:avLst/>
          </a:prstGeom>
          <a:solidFill>
            <a:srgbClr val="4A7C2F">
              <a:alpha val="35000"/>
            </a:srgbClr>
          </a:solidFill>
          <a:ln w="12700">
            <a:solidFill>
              <a:srgbClr val="4A7C2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2926080"/>
            <a:ext cx="2743200" cy="2743200"/>
          </a:xfrm>
          <a:prstGeom prst="ellipse">
            <a:avLst/>
          </a:prstGeom>
          <a:solidFill>
            <a:srgbClr val="7AB648">
              <a:alpha val="30000"/>
            </a:srgbClr>
          </a:solidFill>
          <a:ln w="12700">
            <a:solidFill>
              <a:srgbClr val="7AB64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411480"/>
            <a:ext cx="914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600" dirty="0">
                <a:solidFill>
                  <a:srgbClr val="C8A2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548640" y="1234440"/>
            <a:ext cx="8046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vendedor que nunca duerme,</a:t>
            </a:r>
            <a:endParaRPr lang="en-US" sz="2800" dirty="0"/>
          </a:p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 el respaldo del equipo humano</a:t>
            </a:r>
            <a:endParaRPr lang="en-US" sz="2800" dirty="0"/>
          </a:p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cuando lo necesita.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3639312"/>
            <a:ext cx="2560320" cy="64008"/>
          </a:xfrm>
          <a:prstGeom prst="roundRect">
            <a:avLst>
              <a:gd name="adj" fmla="val 42857"/>
            </a:avLst>
          </a:prstGeom>
          <a:solidFill>
            <a:srgbClr val="C8A200"/>
          </a:solidFill>
          <a:ln w="12700">
            <a:solidFill>
              <a:srgbClr val="C8A2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385876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8A2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Hierbas del Oasis  ·  2026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42519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A9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chat.hierbasdeloasis.com.ar</a:t>
            </a:r>
            <a:endParaRPr lang="en-US" sz="12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4251960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Hierbas del Oasis – Vendedor Digital por WhatsApp</dc:title>
  <dc:subject>PptxGenJS Presentation</dc:subject>
  <dc:creator>PptxGenJS</dc:creator>
  <cp:lastModifiedBy>PptxGenJS</cp:lastModifiedBy>
  <cp:revision>1</cp:revision>
  <dcterms:created xsi:type="dcterms:W3CDTF">2026-06-20T16:13:37Z</dcterms:created>
  <dcterms:modified xsi:type="dcterms:W3CDTF">2026-06-20T16:13:37Z</dcterms:modified>
</cp:coreProperties>
</file>